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5" r:id="rId4"/>
    <p:sldId id="276" r:id="rId5"/>
    <p:sldId id="277" r:id="rId6"/>
    <p:sldId id="27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653" autoAdjust="0"/>
    <p:restoredTop sz="94660"/>
  </p:normalViewPr>
  <p:slideViewPr>
    <p:cSldViewPr snapToGrid="0">
      <p:cViewPr varScale="1">
        <p:scale>
          <a:sx n="70" d="100"/>
          <a:sy n="70" d="100"/>
        </p:scale>
        <p:origin x="12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2A21B-9BE1-49EA-BA32-0056092818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989F22-778F-4D73-BAFA-6585BBCE9C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C98A6-79B9-417F-B155-10843E1E1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009BD-9AB8-4CBF-917B-4BB6A75D3F8C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36CC57-88D6-4903-A0AA-24AB991FE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96F89-088F-471E-9CDE-08B4A9AE1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E777B-70C0-4496-B058-6495145DF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5863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325A3-4AE0-4B08-A713-E7782CC91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49697-FB74-4C1E-9B4A-F41E237C4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A44EAB-F023-42DB-8387-25EDB64E0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009BD-9AB8-4CBF-917B-4BB6A75D3F8C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8065C-A1E8-4A8F-9D5A-DA036ABDB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391BC-7660-465C-8C9D-AB8008BA1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E777B-70C0-4496-B058-6495145DF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7227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4C47D-2BF2-4C10-BC42-BFFE9FEB9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54240F-9DD5-4016-B209-8C84B6764D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88427-5482-4386-ACBC-92D17FA75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009BD-9AB8-4CBF-917B-4BB6A75D3F8C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B636D7-F077-4032-A204-1238C6126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A9D3E-6065-45C9-B9B4-36C89BFA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E777B-70C0-4496-B058-6495145DF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5831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9142B-C5AE-4588-81B8-780387B53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2A802-0B98-4551-905E-32AE3D8DAD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61546A-1A22-4038-80AE-8EB15D498C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2D7C2-7D01-4259-9743-1A0AD4343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009BD-9AB8-4CBF-917B-4BB6A75D3F8C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39B691-B99E-4414-8FAC-859717170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30C6EF-AFF1-49D2-961B-AC651AA84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E777B-70C0-4496-B058-6495145DF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4187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40705-3056-470B-BAD0-235AB33E4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88A3EA-E18A-4335-B4CF-92E97DCD8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1284FE-C6E3-43A5-B384-DD6AF0701C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EA8269-119D-45E1-8BA0-63FCD1BA55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848F56-648C-4AB4-A7A1-37BD6856A8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E066F2-008D-4C79-AB3E-EC4C15BC5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009BD-9AB8-4CBF-917B-4BB6A75D3F8C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18268F-5928-4B47-B10F-6B2ACE3B6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0067A3-5843-427B-8CC4-0CE3EAA5E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E777B-70C0-4496-B058-6495145DF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6068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9A63E-AB99-41C6-A383-A77447487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F09B38-543F-4EE0-B8F0-9FFEBC60E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009BD-9AB8-4CBF-917B-4BB6A75D3F8C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309EE6-C25F-4184-880C-93300E019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7D687A-9B59-40DC-A845-6A2846564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E777B-70C0-4496-B058-6495145DF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9209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274B33-386B-47A2-81D7-4D1F4AE90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009BD-9AB8-4CBF-917B-4BB6A75D3F8C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ED7043-1B90-43F4-8D3A-2B0FBA5E9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D4B86F-7CFD-441C-B203-62043B695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E777B-70C0-4496-B058-6495145DF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2649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78074-8FEC-40E1-9498-EAC7BB149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A3CED-4AD6-4DAC-B4E9-58421DDAC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6D4F6A-BC6A-427B-9E52-41FE2512F7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E85919-80D0-4DB3-B957-12558EFD9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009BD-9AB8-4CBF-917B-4BB6A75D3F8C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4C8665-5508-4A21-916C-BDB3DD1E9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D5E404-1409-4765-A9A4-319DBD9CE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E777B-70C0-4496-B058-6495145DF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0419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16793-E247-46EB-83E9-F40209A1B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D8DC73-323F-4C1E-B3AB-0657DED05E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13E626-F59A-41AF-9AC1-4B052C7FC4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AEE982-4420-496C-AD1D-579C29221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009BD-9AB8-4CBF-917B-4BB6A75D3F8C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02EB25-8D34-47FE-8E16-625823838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DAA90-437D-4DFC-9666-3F67508EC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E777B-70C0-4496-B058-6495145DF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387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73025-77C6-4066-8D7B-00C882FFF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EA27D5-1F4F-4F6A-8C86-0BD49E34A1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7942C-EA23-4729-BE34-78C78E127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009BD-9AB8-4CBF-917B-4BB6A75D3F8C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853C9-2EE0-4A83-B782-DD3826452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3FAE02-4D1D-47BD-8B70-22A177491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E777B-70C0-4496-B058-6495145DF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6618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4C8C9A-6138-4AC9-925B-44F7DA835D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1F61A5-B5F5-44C3-BE4F-4BF5E0B98E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8053D-FF12-40FE-B0FE-C43DD166A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009BD-9AB8-4CBF-917B-4BB6A75D3F8C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7583A-01F4-4A93-98B1-33B0577E6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6A1C6-7E91-40B5-AB67-92F040025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E777B-70C0-4496-B058-6495145DF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7871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BF18B2-B7F3-474A-ACF0-A9A9BB220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603A08-3F14-41A8-BD11-9F36474012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7F292A-5875-4E78-A8BF-0CAA617CF6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1009BD-9AB8-4CBF-917B-4BB6A75D3F8C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01C79-E429-4D10-BEE9-B90B126A12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59A9C-6292-43FB-AA5F-AE35AF2FE0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4E777B-70C0-4496-B058-6495145DF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1485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1531-B19F-4052-B9E6-7DF604D7A8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1377" y="758591"/>
            <a:ext cx="9144000" cy="1655763"/>
          </a:xfrm>
        </p:spPr>
        <p:txBody>
          <a:bodyPr>
            <a:noAutofit/>
          </a:bodyPr>
          <a:lstStyle/>
          <a:p>
            <a:r>
              <a:rPr lang="it-IT" sz="3200" b="1" dirty="0">
                <a:latin typeface="Times" panose="02020603050405020304" pitchFamily="18" charset="0"/>
                <a:cs typeface="Times" panose="02020603050405020304" pitchFamily="18" charset="0"/>
              </a:rPr>
              <a:t>Building a Finite State Automaton (FSA) for Token Recognition</a:t>
            </a:r>
            <a:endParaRPr lang="en-IN" sz="32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7C6823-82FB-4603-978C-47351E74FD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7142" y="3532809"/>
            <a:ext cx="9144000" cy="408853"/>
          </a:xfrm>
        </p:spPr>
        <p:txBody>
          <a:bodyPr>
            <a:normAutofit lnSpcReduction="10000"/>
          </a:bodyPr>
          <a:lstStyle/>
          <a:p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Department: Artificial Intelligence &amp;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3647DA-677D-45F0-9BFA-4DB770D88EBC}"/>
              </a:ext>
            </a:extLst>
          </p:cNvPr>
          <p:cNvSpPr txBox="1"/>
          <p:nvPr/>
        </p:nvSpPr>
        <p:spPr>
          <a:xfrm>
            <a:off x="741218" y="4175920"/>
            <a:ext cx="4274535" cy="1077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61D07B-7C4D-4CCA-831D-7A0F3F380592}"/>
              </a:ext>
            </a:extLst>
          </p:cNvPr>
          <p:cNvSpPr txBox="1"/>
          <p:nvPr/>
        </p:nvSpPr>
        <p:spPr>
          <a:xfrm>
            <a:off x="7738578" y="4459952"/>
            <a:ext cx="38238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 Name:</a:t>
            </a:r>
          </a:p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.Nithin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kumar</a:t>
            </a:r>
            <a:endParaRPr lang="en-IN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ject 4">
            <a:extLst>
              <a:ext uri="{FF2B5EF4-FFF2-40B4-BE49-F238E27FC236}">
                <a16:creationId xmlns:a16="http://schemas.microsoft.com/office/drawing/2014/main" id="{591A30CE-81C2-5C19-869A-4349CDF3290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79" cy="1342897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BA9CC1D4-C377-D3F8-6386-FEC7D19D4D8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AA1B08E-2FD4-332E-9477-F812AB6834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9084123"/>
              </p:ext>
            </p:extLst>
          </p:nvPr>
        </p:nvGraphicFramePr>
        <p:xfrm>
          <a:off x="1321377" y="2780391"/>
          <a:ext cx="10039350" cy="518160"/>
        </p:xfrm>
        <a:graphic>
          <a:graphicData uri="http://schemas.openxmlformats.org/drawingml/2006/table">
            <a:tbl>
              <a:tblPr/>
              <a:tblGrid>
                <a:gridCol w="10039350">
                  <a:extLst>
                    <a:ext uri="{9D8B030D-6E8A-4147-A177-3AD203B41FA5}">
                      <a16:colId xmlns:a16="http://schemas.microsoft.com/office/drawing/2014/main" val="23641173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2400" b="1" dirty="0">
                          <a:effectLst/>
                          <a:latin typeface=" times of roman"/>
                          <a:cs typeface="Times" panose="02020603050405020304" pitchFamily="18" charset="0"/>
                        </a:rPr>
                        <a:t>DSA0302:-Natural Language Processing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603F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03F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03F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0633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0137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IN" sz="3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79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69042" y="1767729"/>
            <a:ext cx="9853916" cy="4600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R="0" lvl="0" algn="l" defTabSz="914400" rtl="0" eaLnBrk="0" fontAlgn="base" latinLnBrk="0" hangingPunct="0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  <a:buNone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is Token Recognition?</a:t>
            </a:r>
          </a:p>
          <a:p>
            <a:pPr marR="0" lvl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Token recognition identifies valid tokens — the smallest meaningful units — from source code, including keywords (if, while, for), identifiers (studentName, count), numbers (123, 45.67), operators (+, -, *, /), and symbols ((, ), {, }).</a:t>
            </a:r>
          </a:p>
          <a:p>
            <a:pPr marR="0" lvl="0" algn="l" defTabSz="914400" rtl="0" eaLnBrk="0" fontAlgn="base" latinLnBrk="0" hangingPunct="0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  <a:buNone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is a Finite State Automaton (FSA)?</a:t>
            </a:r>
          </a:p>
          <a:p>
            <a:pPr marR="0" lvl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An FSA is a mathematical model that recognizes patterns in strings by moving through different states based on input characters.</a:t>
            </a:r>
          </a:p>
          <a:p>
            <a:pPr marR="0" lvl="0" algn="l" defTabSz="914400" rtl="0" eaLnBrk="0" fontAlgn="base" latinLnBrk="0" hangingPunct="0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  <a:buNone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Why is it Used?</a:t>
            </a:r>
          </a:p>
          <a:p>
            <a:pPr marR="0" lvl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FSAs power lexical analyzers, validate identifiers and numbers, detect invalid tokens, and process source code quickly and efficiently.</a:t>
            </a:r>
          </a:p>
        </p:txBody>
      </p:sp>
    </p:spTree>
    <p:extLst>
      <p:ext uri="{BB962C8B-B14F-4D97-AF65-F5344CB8AC3E}">
        <p14:creationId xmlns:p14="http://schemas.microsoft.com/office/powerpoint/2010/main" val="280410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IN" sz="3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Lexical Analysis and FSA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79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69042" y="1767729"/>
            <a:ext cx="9853916" cy="4600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R="0" lvl="0" algn="l" defTabSz="914400" rtl="0" eaLnBrk="0" fontAlgn="base" latinLnBrk="0" hangingPunct="0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is Lexical Analysis?</a:t>
            </a:r>
          </a:p>
          <a:p>
            <a:pPr marR="0" lvl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Lexical analysis is the first phase of a compiler — it reads source code character by character and converts it into tokens.</a:t>
            </a:r>
          </a:p>
          <a:p>
            <a:pPr marR="0" lvl="0" algn="l" defTabSz="914400" rtl="0" eaLnBrk="0" fontAlgn="base" latinLnBrk="0" hangingPunct="0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 Flow</a:t>
            </a:r>
          </a:p>
          <a:p>
            <a:pPr marR="0" lvl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Source Code  →  Character Stream  →  Finite State Automaton  →  Valid Tokens  →  Parser</a:t>
            </a:r>
          </a:p>
          <a:p>
            <a:pPr marR="0" lvl="0" algn="l" defTabSz="914400" rtl="0" eaLnBrk="0" fontAlgn="base" latinLnBrk="0" hangingPunct="0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 int age = 25;</a:t>
            </a:r>
          </a:p>
          <a:p>
            <a:pPr marR="0" lvl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int → Keyword,   age → Identifier,   = → Operator,   25 → Number,   ; → Delimiter</a:t>
            </a:r>
          </a:p>
          <a:p>
            <a:pPr marR="0" lvl="0" algn="l" defTabSz="914400" rtl="0" eaLnBrk="0" fontAlgn="base" latinLnBrk="0" hangingPunct="0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R="0" lvl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Fast token recognition, easy implementation, and early detection of lexical errors.</a:t>
            </a:r>
          </a:p>
        </p:txBody>
      </p:sp>
    </p:spTree>
    <p:extLst>
      <p:ext uri="{BB962C8B-B14F-4D97-AF65-F5344CB8AC3E}">
        <p14:creationId xmlns:p14="http://schemas.microsoft.com/office/powerpoint/2010/main" val="280410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IN" sz="3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FSA for Identifier Recognition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79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69042" y="1767729"/>
            <a:ext cx="9853916" cy="4600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R="0" lvl="0" algn="l" defTabSz="914400" rtl="0" eaLnBrk="0" fontAlgn="base" latinLnBrk="0" hangingPunct="0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  <a:buNone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Rule for a Valid Identifier</a:t>
            </a:r>
          </a:p>
          <a:p>
            <a:pPr marR="0" lvl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Must start with a letter or underscore (_); remaining characters may be letters, digits, or underscores.</a:t>
            </a:r>
          </a:p>
          <a:p>
            <a:pPr marR="0" lvl="0" algn="l" defTabSz="914400" rtl="0" eaLnBrk="0" fontAlgn="base" latinLnBrk="0" hangingPunct="0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  <a:buNone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  <a:p>
            <a:pPr marR="0" lvl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Valid: student, _roll, count123        Invalid: 123abc, @name, 2count</a:t>
            </a:r>
          </a:p>
          <a:p>
            <a:pPr marR="0" lvl="0" algn="l" defTabSz="914400" rtl="0" eaLnBrk="0" fontAlgn="base" latinLnBrk="0" hangingPunct="0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  <a:buNone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State Transitions</a:t>
            </a:r>
          </a:p>
          <a:p>
            <a:pPr marR="0" lvl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State 0 (Start): reads a letter or underscore and moves to State 1; any other character is rejected.</a:t>
            </a:r>
          </a:p>
          <a:p>
            <a:pPr marR="0" lvl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State 1 (Accept): loops on letters, digits, and underscores; any invalid symbol is rejected.</a:t>
            </a:r>
          </a:p>
        </p:txBody>
      </p:sp>
    </p:spTree>
    <p:extLst>
      <p:ext uri="{BB962C8B-B14F-4D97-AF65-F5344CB8AC3E}">
        <p14:creationId xmlns:p14="http://schemas.microsoft.com/office/powerpoint/2010/main" val="280410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IN" sz="3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Implementation and Output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79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69042" y="1767729"/>
            <a:ext cx="9853916" cy="4600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R="0" lvl="0" algn="l" defTabSz="914400" rtl="0" eaLnBrk="0" fontAlgn="base" latinLnBrk="0" hangingPunct="0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FSA-based Identifier Validator (Python)</a:t>
            </a:r>
          </a:p>
          <a:p>
            <a:pPr marR="0" lvl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def identifier_fsa(token):</a:t>
            </a:r>
          </a:p>
          <a:p>
            <a:pPr marR="0" lvl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   state = 0</a:t>
            </a:r>
          </a:p>
          <a:p>
            <a:pPr marR="0" lvl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   for ch in token:</a:t>
            </a:r>
          </a:p>
          <a:p>
            <a:pPr marR="0" lvl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       if state == 0:</a:t>
            </a:r>
          </a:p>
          <a:p>
            <a:pPr marR="0" lvl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           if ch.isalpha() or ch == "_":</a:t>
            </a:r>
          </a:p>
          <a:p>
            <a:pPr marR="0" lvl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               state = 1</a:t>
            </a:r>
          </a:p>
          <a:p>
            <a:pPr marR="0" lvl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           else:</a:t>
            </a:r>
          </a:p>
          <a:p>
            <a:pPr marR="0" lvl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               return False</a:t>
            </a:r>
          </a:p>
          <a:p>
            <a:pPr marR="0" lvl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       elif state == 1:</a:t>
            </a:r>
          </a:p>
          <a:p>
            <a:pPr marR="0" lvl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           if ch.isalpha() or ch.isdigit() or ch == "_":</a:t>
            </a:r>
          </a:p>
          <a:p>
            <a:pPr marR="0" lvl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               state = 1</a:t>
            </a:r>
          </a:p>
          <a:p>
            <a:pPr marR="0" lvl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           else:</a:t>
            </a:r>
          </a:p>
          <a:p>
            <a:pPr marR="0" lvl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               return False</a:t>
            </a:r>
          </a:p>
          <a:p>
            <a:pPr marR="0" lvl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   return state == 1</a:t>
            </a:r>
          </a:p>
          <a:p>
            <a:pPr marR="0" lvl="0" algn="l" defTabSz="914400" rtl="0" eaLnBrk="0" fontAlgn="base" latinLnBrk="0" hangingPunct="0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 Outputs</a:t>
            </a:r>
          </a:p>
          <a:p>
            <a:pPr marR="0" lvl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student123 → Valid Identifier        2student → Invalid Identifier</a:t>
            </a:r>
          </a:p>
          <a:p>
            <a:pPr marR="0" lvl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_roll_no → Valid Identifier        name@ → Invalid Identifier</a:t>
            </a:r>
          </a:p>
        </p:txBody>
      </p:sp>
    </p:spTree>
    <p:extLst>
      <p:ext uri="{BB962C8B-B14F-4D97-AF65-F5344CB8AC3E}">
        <p14:creationId xmlns:p14="http://schemas.microsoft.com/office/powerpoint/2010/main" val="280410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IN" sz="3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Applications, Advantages &amp; Conclusion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79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69042" y="1767729"/>
            <a:ext cx="9853916" cy="4600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R="0" lvl="0" algn="l" defTabSz="914400" rtl="0" eaLnBrk="0" fontAlgn="base" latinLnBrk="0" hangingPunct="0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marR="0" lvl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Compiler design, lexical analyzers, programming language processing, text editors, syntax highlighting, input validation, NLP, and pattern recognition.</a:t>
            </a:r>
          </a:p>
          <a:p>
            <a:pPr marR="0" lvl="0" algn="l" defTabSz="914400" rtl="0" eaLnBrk="0" fontAlgn="base" latinLnBrk="0" hangingPunct="0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R="0" lvl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Fast token recognition, simple implementation, early error detection, memory efficiency, and easy design — widely used in compiler construction.</a:t>
            </a:r>
          </a:p>
          <a:p>
            <a:pPr marR="0" lvl="0" algn="l" defTabSz="914400" rtl="0" eaLnBrk="0" fontAlgn="base" latinLnBrk="0" hangingPunct="0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R="0" lvl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Finite State Automata form the foundation of lexical analysis, efficiently recognizing valid programming language tokens and improving compiler performance by validating tokens before parsing.</a:t>
            </a:r>
          </a:p>
        </p:txBody>
      </p:sp>
    </p:spTree>
    <p:extLst>
      <p:ext uri="{BB962C8B-B14F-4D97-AF65-F5344CB8AC3E}">
        <p14:creationId xmlns:p14="http://schemas.microsoft.com/office/powerpoint/2010/main" val="2804105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605</TotalTime>
  <Words>513</Words>
  <Application>Microsoft Office PowerPoint</Application>
  <PresentationFormat>Widescreen</PresentationFormat>
  <Paragraphs>56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 times of roman</vt:lpstr>
      <vt:lpstr>Arial</vt:lpstr>
      <vt:lpstr>Calibri</vt:lpstr>
      <vt:lpstr>Calibri Light</vt:lpstr>
      <vt:lpstr>Courier New</vt:lpstr>
      <vt:lpstr>Times</vt:lpstr>
      <vt:lpstr>Times New Roman</vt:lpstr>
      <vt:lpstr>Wingdings</vt:lpstr>
      <vt:lpstr>Office Theme</vt:lpstr>
      <vt:lpstr>Building a Finite State Automaton (FSA) for Token Recognition</vt:lpstr>
      <vt:lpstr>Introduction</vt:lpstr>
      <vt:lpstr>Lexical Analysis and FSA</vt:lpstr>
      <vt:lpstr>FSA for Identifier Recognition</vt:lpstr>
      <vt:lpstr>Python Implementation and Output</vt:lpstr>
      <vt:lpstr>Applications, Advantages &amp; 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POGALA CHANDU</dc:creator>
  <cp:lastModifiedBy>Nithin kumar</cp:lastModifiedBy>
  <cp:revision>36</cp:revision>
  <dcterms:created xsi:type="dcterms:W3CDTF">2026-01-20T02:41:58Z</dcterms:created>
  <dcterms:modified xsi:type="dcterms:W3CDTF">2026-07-20T05:24:19Z</dcterms:modified>
</cp:coreProperties>
</file>